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07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06240" y="0"/>
            <a:ext cx="41148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1417320" cy="3840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914400"/>
            <a:ext cx="3566160" cy="34747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MEETING REPORT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20040" y="1353312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 Delegation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Meets Hon'ble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Union Minister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320040" y="32461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 Piyush Goyal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197070" y="3931920"/>
            <a:ext cx="26064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Commerce &amp; Industry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— New Delhi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4850296"/>
            <a:ext cx="4892040" cy="28863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9"/>
          <p:cNvSpPr/>
          <p:nvPr/>
        </p:nvSpPr>
        <p:spPr>
          <a:xfrm>
            <a:off x="425196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Delegation with Union Minister Shri Piyush Goyal — New Delhi, 11 February 2026</a:t>
            </a:r>
            <a:endParaRPr lang="en-US" sz="85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CAC7AB-AF94-34A3-BD06-21018D196E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83" t="750" r="1979" b="-750"/>
          <a:stretch>
            <a:fillRect/>
          </a:stretch>
        </p:blipFill>
        <p:spPr>
          <a:xfrm>
            <a:off x="4251960" y="-242315"/>
            <a:ext cx="5188940" cy="5143499"/>
          </a:xfrm>
          <a:prstGeom prst="rect">
            <a:avLst/>
          </a:prstGeom>
        </p:spPr>
      </p:pic>
      <p:sp>
        <p:nvSpPr>
          <p:cNvPr id="18" name="AutoShape 2">
            <a:extLst>
              <a:ext uri="{FF2B5EF4-FFF2-40B4-BE49-F238E27FC236}">
                <a16:creationId xmlns:a16="http://schemas.microsoft.com/office/drawing/2014/main" id="{DD52C86A-2340-86D1-CC83-0E7F5106AE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7DA736E0-8073-0463-E38C-747747374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2E470EE3-FCE1-BAC0-3ADF-8326CAC63F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146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DB8784-DE75-8BE9-81D6-398013261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822192"/>
            <a:ext cx="1014587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Delegation Overview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09728"/>
            <a:ext cx="138988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0980" y="479679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Delhi, 11 February 2026</a:t>
            </a:r>
            <a:endParaRPr lang="en-US" sz="8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739726" y="822960"/>
            <a:ext cx="41299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Meeting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4880112" y="1229869"/>
            <a:ext cx="3989567" cy="45719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34392" y="1371600"/>
            <a:ext cx="3989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delegation of the Buying Agents Association (BAA) met with Hon'ble Union Minister Shri Piyush Goyal at the Ministry of Commerce &amp; Industry, Government of India, New Delhi.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39726" y="2276856"/>
            <a:ext cx="4193962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3" name="Shape 9"/>
          <p:cNvSpPr/>
          <p:nvPr/>
        </p:nvSpPr>
        <p:spPr>
          <a:xfrm>
            <a:off x="4739726" y="2275034"/>
            <a:ext cx="4175674" cy="384048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0560" y="22860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DELEGATION MEMBERS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56048" y="2761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Ruma Malik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5128590" y="2953512"/>
            <a:ext cx="3576497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BAA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56048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Anchal Kansal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5128590" y="3424428"/>
            <a:ext cx="3576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Secretary, BAA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56048" y="36804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Pramod Rana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5128590" y="3865625"/>
            <a:ext cx="3576498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Body Member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956048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Manoj Rana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" name="Text 22"/>
          <p:cNvSpPr/>
          <p:nvPr/>
        </p:nvSpPr>
        <p:spPr>
          <a:xfrm>
            <a:off x="5128590" y="4283964"/>
            <a:ext cx="3576498" cy="19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Body Member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BAA — Committed to Advancing India's Global Trade Ecosystem  |  info@baa.org.in  |  www.baa.org.in</a:t>
            </a:r>
            <a:endParaRPr lang="en-US" sz="750" b="1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2FF1A544-6774-336B-7A4D-DE7CE15E848D}"/>
              </a:ext>
            </a:extLst>
          </p:cNvPr>
          <p:cNvSpPr/>
          <p:nvPr/>
        </p:nvSpPr>
        <p:spPr>
          <a:xfrm>
            <a:off x="4980432" y="4531614"/>
            <a:ext cx="374904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Calibri "/>
              </a:rPr>
              <a:t>Mrs. Priya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90CB57B-6F6F-BF2D-2753-B33B92A23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26" y="683514"/>
            <a:ext cx="4734564" cy="4151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C2D30-18DB-6FA7-DBDA-055AA8A9BCD9}"/>
              </a:ext>
            </a:extLst>
          </p:cNvPr>
          <p:cNvSpPr txBox="1"/>
          <p:nvPr/>
        </p:nvSpPr>
        <p:spPr>
          <a:xfrm>
            <a:off x="5057776" y="4685517"/>
            <a:ext cx="145351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BAA Member</a:t>
            </a:r>
            <a:endParaRPr lang="en-IN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Discussions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09728"/>
            <a:ext cx="138988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discussions covered a wide range of critical themes shaping India's trade and export landscape: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6032" y="129844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298448"/>
            <a:ext cx="54864" cy="10789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16093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FTA Framework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84048" y="1865376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congratulated the Government on advancing Free Trade Agreements with major partners including the UK, EU, USA, and others, creating significant new opportunities for Indian exporters.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" y="24688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468880"/>
            <a:ext cx="54864" cy="10789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27797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 Developments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4048" y="303580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delegation welcomed tariff reductions with the United States and highlighted their positive impact on India's sourcing and export competitiveness.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6032" y="363931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639312"/>
            <a:ext cx="54864" cy="10789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7124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4048" y="39502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Quality Mark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4048" y="420624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emphasized the need for a globally recognized Indian quality mark to strengthen international confidence in Indian goods and boost buyer trust across sourcing markets.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63440" y="129844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1298448"/>
            <a:ext cx="54864" cy="10789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91456" y="16093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of Buying Agencies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91456" y="1865376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delegation highlighted the critical role buying agencies play in the export value chain, acting as the bridge between global buyers and Indian manufacturers.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24688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2468880"/>
            <a:ext cx="54864" cy="10789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73168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91456" y="27797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Alignment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91456" y="303580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underscored the importance of ensuring that policy frameworks reflect the practical realities of international sourcing and the day-to-day operations of buying agents.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0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BAA — Committed to Advancing India's Global Trade Ecosystem  |  info@baa.org.in  |  www.baa.org.in</a:t>
            </a:r>
            <a:endParaRPr lang="en-US" sz="7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Next Phase of Trade Leadership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09728"/>
            <a:ext cx="138988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39" y="822960"/>
            <a:ext cx="816280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BAA delegation engaged in a constructive and forward-looking discussion with the Minister on India's evolving trade and export landscape.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6031" y="1572768"/>
            <a:ext cx="5404105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572768"/>
            <a:ext cx="54864" cy="932688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828800"/>
            <a:ext cx="274320" cy="274320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Strengthening India's Competitiveness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49808" y="201168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India's position in global markets through strategic, forward-looking trade policy.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6032" y="2596896"/>
            <a:ext cx="540410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2596896"/>
            <a:ext cx="54864" cy="932688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852928"/>
            <a:ext cx="274320" cy="274320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" y="2688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Enhancing the Role of Buying Agencies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49808" y="30358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Amplifying buying agencies' contribution to export growth and facilitating global sourcing partnerships.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6032" y="3621024"/>
            <a:ext cx="540410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56032" y="3621024"/>
            <a:ext cx="54864" cy="932688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877056"/>
            <a:ext cx="274320" cy="274320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9808" y="3712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FTA Framework into Measurable Gains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749808" y="405993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India's expanding FTA framework delivers tangible benefits for exporters, MSMEs, and allied trade bodies.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806440" y="3105780"/>
            <a:ext cx="3246120" cy="1581912"/>
          </a:xfrm>
          <a:prstGeom prst="rect">
            <a:avLst/>
          </a:prstGeom>
          <a:solidFill>
            <a:srgbClr val="A8A4A0">
              <a:alpha val="0"/>
            </a:srgbClr>
          </a:solidFill>
          <a:ln w="12700">
            <a:solidFill>
              <a:srgbClr val="A8A4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3"/>
          <p:cNvSpPr/>
          <p:nvPr/>
        </p:nvSpPr>
        <p:spPr>
          <a:xfrm>
            <a:off x="5856136" y="2450592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r>
              <a:rPr lang="en-US" sz="1000" b="1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As India deepens its trade partnerships and expands market access, BAA remains committed to representing the voice of buying agencies and contributing constructively to the nation's export growth journey."</a:t>
            </a:r>
            <a:endParaRPr lang="en-US" sz="1000" b="1" dirty="0"/>
          </a:p>
        </p:txBody>
      </p:sp>
      <p:sp>
        <p:nvSpPr>
          <p:cNvPr id="28" name="Shape 2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A8A4A0"/>
          </a:solidFill>
          <a:ln w="12700">
            <a:solidFill>
              <a:srgbClr val="A8A4A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BAA — Committed to Advancing India's Global Trade Ecosystem  |  info@baa.org.in  |  www.baa.org.in</a:t>
            </a:r>
            <a:endParaRPr lang="en-US" sz="7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1A1A1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2880"/>
            <a:ext cx="1417320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7498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 — Committed to Advancing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Global Trade Ecosystem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3200400" y="2176272"/>
            <a:ext cx="27432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0080" y="2377440"/>
            <a:ext cx="2423160" cy="1828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78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6"/>
          <p:cNvSpPr/>
          <p:nvPr/>
        </p:nvSpPr>
        <p:spPr>
          <a:xfrm>
            <a:off x="640080" y="2450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0080" y="2926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Advocacy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731520" y="32918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buying agencies before Government &amp; policy bodies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37560" y="2377440"/>
            <a:ext cx="2423160" cy="1828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78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0"/>
          <p:cNvSpPr/>
          <p:nvPr/>
        </p:nvSpPr>
        <p:spPr>
          <a:xfrm>
            <a:off x="3337560" y="2450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337560" y="2926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Connections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3429000" y="32918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Indian manufacturers with international buyers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2377440"/>
            <a:ext cx="2423160" cy="1828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7830">
                <a:alpha val="5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2450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035040" y="2926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Growth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6126480" y="32918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India's sourcing competitiveness on the world stage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info@baa.org.in  |  www.baa.org.in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540</Words>
  <Application>Microsoft Office PowerPoint</Application>
  <PresentationFormat>On-screen Show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BAA Delegation Meets Hon'ble Union Minister Shri Piyush Goyal</dc:title>
  <dc:subject>PptxGenJS Presentation</dc:subject>
  <dc:creator>PptxGenJS</dc:creator>
  <cp:lastModifiedBy>Admin</cp:lastModifiedBy>
  <cp:revision>5</cp:revision>
  <dcterms:created xsi:type="dcterms:W3CDTF">2026-04-07T04:12:36Z</dcterms:created>
  <dcterms:modified xsi:type="dcterms:W3CDTF">2026-04-13T12:11:35Z</dcterms:modified>
</cp:coreProperties>
</file>