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91" autoAdjust="0"/>
  </p:normalViewPr>
  <p:slideViewPr>
    <p:cSldViewPr snapToGrid="0" snapToObjects="1">
      <p:cViewPr varScale="1">
        <p:scale>
          <a:sx n="90" d="100"/>
          <a:sy n="90" d="100"/>
        </p:scale>
        <p:origin x="81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796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7.jf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94708" y="4572"/>
            <a:ext cx="5226432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871837" y="-4572"/>
            <a:ext cx="45721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292" y="228600"/>
            <a:ext cx="1463040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77508" y="914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AIPMA × BAA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320040" y="202657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E87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Highlights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320040" y="274533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chemeClr val="bg2">
                    <a:lumMod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Strengthening Industry–Trade Collaboration</a:t>
            </a:r>
            <a:endParaRPr lang="en-US" sz="14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3917558" y="4480560"/>
            <a:ext cx="5226442" cy="662940"/>
          </a:xfrm>
          <a:prstGeom prst="rect">
            <a:avLst/>
          </a:prstGeom>
          <a:solidFill>
            <a:srgbClr val="000000">
              <a:alpha val="55000"/>
            </a:srgbClr>
          </a:solidFill>
          <a:ln w="12700">
            <a:solidFill>
              <a:srgbClr val="000000">
                <a:alpha val="5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526280" y="4498848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 Signing Ceremony — AIPMA &amp; BAA Representatives</a:t>
            </a:r>
            <a:endParaRPr lang="en-US" sz="1200" b="1" dirty="0"/>
          </a:p>
          <a:p>
            <a:pPr marL="0" indent="0" algn="l">
              <a:buNone/>
            </a:pPr>
            <a:r>
              <a:rPr lang="en-US" sz="1200" b="1" i="1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Plastiworld, March 2026</a:t>
            </a:r>
            <a:endParaRPr lang="en-US" sz="1200" b="1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3C54168-281E-564D-1672-877CAB70FC89}"/>
              </a:ext>
            </a:extLst>
          </p:cNvPr>
          <p:cNvGrpSpPr/>
          <p:nvPr/>
        </p:nvGrpSpPr>
        <p:grpSpPr>
          <a:xfrm>
            <a:off x="320039" y="3656536"/>
            <a:ext cx="2990935" cy="402336"/>
            <a:chOff x="320039" y="3794760"/>
            <a:chExt cx="2990935" cy="402336"/>
          </a:xfrm>
        </p:grpSpPr>
        <p:sp>
          <p:nvSpPr>
            <p:cNvPr id="12" name="Shape 8"/>
            <p:cNvSpPr/>
            <p:nvPr/>
          </p:nvSpPr>
          <p:spPr>
            <a:xfrm>
              <a:off x="320039" y="3794760"/>
              <a:ext cx="2990935" cy="402336"/>
            </a:xfrm>
            <a:prstGeom prst="rect">
              <a:avLst/>
            </a:prstGeom>
            <a:solidFill>
              <a:srgbClr val="E87830"/>
            </a:solidFill>
            <a:ln w="12700">
              <a:solidFill>
                <a:srgbClr val="E87830"/>
              </a:solidFill>
              <a:prstDash val="solid"/>
            </a:ln>
          </p:spPr>
        </p:sp>
        <p:sp>
          <p:nvSpPr>
            <p:cNvPr id="13" name="Text 9"/>
            <p:cNvSpPr/>
            <p:nvPr/>
          </p:nvSpPr>
          <p:spPr>
            <a:xfrm>
              <a:off x="535884" y="3794760"/>
              <a:ext cx="2560320" cy="4023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200" dirty="0">
                  <a:solidFill>
                    <a:srgbClr val="333333"/>
                  </a:solidFill>
                </a:rPr>
                <a:t>SIGNED · MARCH 2026 · PLASTIWORLD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BAA Signs MoU with AIPMA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91440"/>
            <a:ext cx="1417320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804672"/>
            <a:ext cx="415237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and AIPMA have joined hands to strengthen industry–trade ties and expand global market access for India’s plastics sector.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182880" y="1989019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8" name="Shape 5"/>
          <p:cNvSpPr/>
          <p:nvPr/>
        </p:nvSpPr>
        <p:spPr>
          <a:xfrm>
            <a:off x="240030" y="1989019"/>
            <a:ext cx="64008" cy="105156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99796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🌐  Global Market Access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52044" y="2313631"/>
            <a:ext cx="42489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AIPMA manufacturers with BAA’s global network of buyers and agents to unlock new export opportunities.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2880" y="3153687"/>
            <a:ext cx="5120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9"/>
          <p:cNvSpPr/>
          <p:nvPr/>
        </p:nvSpPr>
        <p:spPr>
          <a:xfrm>
            <a:off x="248081" y="3153687"/>
            <a:ext cx="64008" cy="105156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644" y="3118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8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🤝  Joint B2B Events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84644" y="3489430"/>
            <a:ext cx="4152370" cy="57567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Co-hosted events at Plastiworld and top trade fairs showcase Indian plastics to a global buyer audience.</a:t>
            </a:r>
            <a:endParaRPr lang="en-US" sz="105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35600" y="672084"/>
            <a:ext cx="4408400" cy="430225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669280" y="4754880"/>
            <a:ext cx="3246120" cy="219456"/>
          </a:xfrm>
          <a:prstGeom prst="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4754880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Plastiworld 2026 — Industry Panel, Jio World Convention Centre, Mumbai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AIPMA × BAA  |  Industry–Trade Collaboration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21792"/>
            <a:ext cx="91440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Areas of Collaboration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" y="749808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49808"/>
            <a:ext cx="4160520" cy="960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56032" y="749808"/>
            <a:ext cx="4160520" cy="960120"/>
          </a:xfrm>
          <a:prstGeom prst="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0F0F0">
                <a:alpha val="7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93192" y="1344168"/>
            <a:ext cx="384048" cy="384048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93192" y="1344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33333"/>
                </a:solidFill>
                <a:latin typeface="Georgia" panose="02040502050405020303" pitchFamily="18" charset="0"/>
                <a:ea typeface="Georgia" pitchFamily="34" charset="-122"/>
                <a:cs typeface="Georgia" pitchFamily="34" charset="-120"/>
              </a:rPr>
              <a:t>Global Buyer Connections</a:t>
            </a:r>
            <a:endParaRPr lang="en-US" sz="1200" dirty="0">
              <a:latin typeface="Georgia" panose="02040502050405020303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93192" y="1755648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AIPMA manufacturers with BAA's worldwide network of buying agents and international buyers for new export opportunities.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850360" y="1738233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148222" y="2001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876228" y="1860804"/>
            <a:ext cx="3874579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Co-organise industry events and networking meets at Plastiworld and top trade fairs to showcase Indian plastics to global buyers.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56032" y="2889504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56032" y="2889504"/>
            <a:ext cx="4160520" cy="96012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256032" y="2889504"/>
            <a:ext cx="4160520" cy="960120"/>
          </a:xfrm>
          <a:prstGeom prst="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0F0F0">
                <a:alpha val="70000"/>
              </a:srgbClr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393192" y="3483864"/>
            <a:ext cx="384048" cy="384048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393192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</a:rPr>
              <a:t>3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50392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Export Workshops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93192" y="3895344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 experts deliver export readiness workshops covering international standards, buyer requirements, and global market trends.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09160" y="2830068"/>
            <a:ext cx="41605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00016" y="2889504"/>
            <a:ext cx="4160520" cy="960120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700016" y="2889504"/>
            <a:ext cx="4160520" cy="960120"/>
          </a:xfrm>
          <a:prstGeom prst="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0F0F0">
                <a:alpha val="70000"/>
              </a:srgbClr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837176" y="3483864"/>
            <a:ext cx="384048" cy="384048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37176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5294376" y="35112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Advocacy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4837176" y="3895344"/>
            <a:ext cx="3886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Jointly represent India's plastics and sourcing sectors before government bodies to promote trade facilitation and export-friendly regulations.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AIPMA × BAA  |  Industry–Trade Collaboration</a:t>
            </a:r>
            <a:endParaRPr lang="en-US" sz="800" dirty="0"/>
          </a:p>
        </p:txBody>
      </p:sp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C7246776-D0E0-EBCD-5571-C01EAF688B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0876"/>
            <a:ext cx="1417320" cy="384048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55E6D804-A3E6-2FFA-33D7-341FFE1CA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9127" y="740444"/>
            <a:ext cx="4091407" cy="970048"/>
          </a:xfrm>
          <a:prstGeom prst="rect">
            <a:avLst/>
          </a:prstGeom>
        </p:spPr>
      </p:pic>
      <p:sp>
        <p:nvSpPr>
          <p:cNvPr id="42" name="Shape 4">
            <a:extLst>
              <a:ext uri="{FF2B5EF4-FFF2-40B4-BE49-F238E27FC236}">
                <a16:creationId xmlns:a16="http://schemas.microsoft.com/office/drawing/2014/main" id="{1AD88CFD-5989-C799-CC5C-FF07FBB95F89}"/>
              </a:ext>
            </a:extLst>
          </p:cNvPr>
          <p:cNvSpPr/>
          <p:nvPr/>
        </p:nvSpPr>
        <p:spPr>
          <a:xfrm>
            <a:off x="4767813" y="739155"/>
            <a:ext cx="4091408" cy="971337"/>
          </a:xfrm>
          <a:prstGeom prst="rect">
            <a:avLst/>
          </a:prstGeom>
          <a:solidFill>
            <a:srgbClr val="F0F0F0">
              <a:alpha val="70000"/>
            </a:srgbClr>
          </a:solidFill>
          <a:ln w="12700">
            <a:solidFill>
              <a:srgbClr val="F0F0F0">
                <a:alpha val="70000"/>
              </a:srgbClr>
            </a:solidFill>
            <a:prstDash val="solid"/>
          </a:ln>
        </p:spPr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204B92F0-61EA-A130-0745-844016F7F71D}"/>
              </a:ext>
            </a:extLst>
          </p:cNvPr>
          <p:cNvSpPr/>
          <p:nvPr/>
        </p:nvSpPr>
        <p:spPr>
          <a:xfrm>
            <a:off x="5276088" y="1418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B2B Networking Events</a:t>
            </a:r>
            <a:endParaRPr lang="en-US" sz="1100" dirty="0"/>
          </a:p>
        </p:txBody>
      </p:sp>
      <p:sp>
        <p:nvSpPr>
          <p:cNvPr id="45" name="Text 12">
            <a:extLst>
              <a:ext uri="{FF2B5EF4-FFF2-40B4-BE49-F238E27FC236}">
                <a16:creationId xmlns:a16="http://schemas.microsoft.com/office/drawing/2014/main" id="{B723212D-AA9A-8CC5-E4B9-5CC67618C6DF}"/>
              </a:ext>
            </a:extLst>
          </p:cNvPr>
          <p:cNvSpPr/>
          <p:nvPr/>
        </p:nvSpPr>
        <p:spPr>
          <a:xfrm>
            <a:off x="5364989" y="1799341"/>
            <a:ext cx="361506" cy="35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483BC6C6-0C6B-7B5B-F31C-4C3968120521}"/>
              </a:ext>
            </a:extLst>
          </p:cNvPr>
          <p:cNvSpPr/>
          <p:nvPr/>
        </p:nvSpPr>
        <p:spPr>
          <a:xfrm>
            <a:off x="4808680" y="1393100"/>
            <a:ext cx="384048" cy="384048"/>
          </a:xfrm>
          <a:prstGeom prst="ellipse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1ECDDED2-D607-A7FF-7B54-4B221F538959}"/>
              </a:ext>
            </a:extLst>
          </p:cNvPr>
          <p:cNvSpPr/>
          <p:nvPr/>
        </p:nvSpPr>
        <p:spPr>
          <a:xfrm>
            <a:off x="4819951" y="1418888"/>
            <a:ext cx="361506" cy="358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33333"/>
                </a:solidFill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34787" y="-45720"/>
            <a:ext cx="9213574" cy="5170087"/>
          </a:xfrm>
          <a:prstGeom prst="rect">
            <a:avLst/>
          </a:prstGeom>
          <a:solidFill>
            <a:srgbClr val="F0F0F0">
              <a:alpha val="15000"/>
            </a:srgbClr>
          </a:solidFill>
          <a:ln w="12700">
            <a:solidFill>
              <a:srgbClr val="F0F0F0">
                <a:alpha val="1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82880"/>
            <a:ext cx="1463040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-4572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000" dirty="0"/>
          </a:p>
        </p:txBody>
      </p:sp>
      <p:sp>
        <p:nvSpPr>
          <p:cNvPr id="8" name="Shape 4"/>
          <p:cNvSpPr/>
          <p:nvPr/>
        </p:nvSpPr>
        <p:spPr>
          <a:xfrm>
            <a:off x="3200400" y="4821820"/>
            <a:ext cx="2743200" cy="50292"/>
          </a:xfrm>
          <a:prstGeom prst="rect">
            <a:avLst/>
          </a:prstGeom>
          <a:solidFill>
            <a:srgbClr val="E87830"/>
          </a:solidFill>
          <a:ln w="12700">
            <a:solidFill>
              <a:srgbClr val="E8783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1097280" y="4197917"/>
            <a:ext cx="6949440" cy="7438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partnership reflects BAA's commitment to strengthening India's global trade ecosystem through meaningful collaboration with premier industry associations.</a:t>
            </a:r>
            <a:endParaRPr lang="en-US" sz="1350" b="1" dirty="0">
              <a:solidFill>
                <a:schemeClr val="bg1"/>
              </a:solidFill>
            </a:endParaRPr>
          </a:p>
        </p:txBody>
      </p:sp>
      <p:sp>
        <p:nvSpPr>
          <p:cNvPr id="10" name="Shape 6"/>
          <p:cNvSpPr/>
          <p:nvPr/>
        </p:nvSpPr>
        <p:spPr>
          <a:xfrm>
            <a:off x="1874520" y="2869803"/>
            <a:ext cx="5589766" cy="1188720"/>
          </a:xfrm>
          <a:prstGeom prst="rect">
            <a:avLst/>
          </a:prstGeom>
          <a:solidFill>
            <a:srgbClr val="E87830">
              <a:alpha val="20000"/>
            </a:srgbClr>
          </a:solidFill>
          <a:ln w="12700">
            <a:solidFill>
              <a:srgbClr val="E87830">
                <a:alpha val="50000"/>
              </a:srgbClr>
            </a:solidFill>
            <a:prstDash val="solid"/>
          </a:ln>
        </p:spPr>
        <p:txBody>
          <a:bodyPr/>
          <a:lstStyle/>
          <a:p>
            <a:pPr algn="ctr"/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1874520" y="2979649"/>
            <a:ext cx="558976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look forward to a productive and</a:t>
            </a:r>
            <a:endParaRPr lang="en-US" sz="1600" b="1" dirty="0"/>
          </a:p>
          <a:p>
            <a:pPr marL="0" indent="0" algn="ctr">
              <a:buNone/>
            </a:pPr>
            <a:r>
              <a:rPr lang="en-US" sz="1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impactful association with AIPMA."</a:t>
            </a:r>
            <a:endParaRPr lang="en-US" sz="1600" b="1" dirty="0"/>
          </a:p>
        </p:txBody>
      </p:sp>
      <p:sp>
        <p:nvSpPr>
          <p:cNvPr id="12" name="Text 8"/>
          <p:cNvSpPr/>
          <p:nvPr/>
        </p:nvSpPr>
        <p:spPr>
          <a:xfrm>
            <a:off x="1874520" y="3695393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Buying Agents Association (BAA)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263</Words>
  <Application>Microsoft Office PowerPoint</Application>
  <PresentationFormat>On-screen Show (16:9)</PresentationFormat>
  <Paragraphs>36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MoU Highlights: AIPMA × BAA</dc:title>
  <dc:subject>PptxGenJS Presentation</dc:subject>
  <dc:creator>PptxGenJS</dc:creator>
  <cp:lastModifiedBy>Admin</cp:lastModifiedBy>
  <cp:revision>10</cp:revision>
  <dcterms:created xsi:type="dcterms:W3CDTF">2026-04-07T04:08:00Z</dcterms:created>
  <dcterms:modified xsi:type="dcterms:W3CDTF">2026-04-14T04:55:21Z</dcterms:modified>
</cp:coreProperties>
</file>